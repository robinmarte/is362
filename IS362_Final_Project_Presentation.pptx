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2F6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188720"/>
            <a:ext cx="10515600" cy="1828800"/>
          </a:xfrm>
          <a:prstGeom prst="rect">
            <a:avLst/>
          </a:prstGeom>
          <a:noFill/>
        </p:spPr>
        <p:txBody>
          <a:bodyPr wrap="none">
            <a:spAutoFit/>
          </a:bodyPr>
          <a:lstStyle/>
          <a:p>
            <a:r>
              <a:rPr sz="3400" b="1">
                <a:solidFill>
                  <a:srgbClr val="1F4E79"/>
                </a:solidFill>
              </a:rPr>
              <a:t>IS 362 Final Project</a:t>
            </a:r>
          </a:p>
          <a:p>
            <a:r>
              <a:rPr sz="2200">
                <a:solidFill>
                  <a:srgbClr val="2D2D2D"/>
                </a:solidFill>
              </a:rPr>
              <a:t>How the Stock Market and Oil Reacted to the Late-February 2026 Iran Conflict Period</a:t>
            </a:r>
          </a:p>
          <a:p>
            <a:r>
              <a:rPr sz="1600">
                <a:solidFill>
                  <a:srgbClr val="646464"/>
                </a:solidFill>
              </a:rPr>
              <a:t>Robin Marte • Professor Larry Cohen</a:t>
            </a:r>
          </a:p>
        </p:txBody>
      </p:sp>
      <p:sp>
        <p:nvSpPr>
          <p:cNvPr id="4" name="Rectangle 3"/>
          <p:cNvSpPr/>
          <p:nvPr/>
        </p:nvSpPr>
        <p:spPr>
          <a:xfrm>
            <a:off x="731520" y="3154680"/>
            <a:ext cx="2377440" cy="73152"/>
          </a:xfrm>
          <a:prstGeom prst="rect">
            <a:avLst/>
          </a:prstGeom>
          <a:solidFill>
            <a:srgbClr val="2E75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365760" y="6446520"/>
            <a:ext cx="10972800" cy="274320"/>
          </a:xfrm>
          <a:prstGeom prst="rect">
            <a:avLst/>
          </a:prstGeom>
          <a:noFill/>
        </p:spPr>
        <p:txBody>
          <a:bodyPr wrap="none">
            <a:spAutoFit/>
          </a:bodyPr>
          <a:lstStyle/>
          <a:p>
            <a:pPr algn="r"/>
            <a:r>
              <a:rPr sz="1000">
                <a:solidFill>
                  <a:srgbClr val="646464"/>
                </a:solidFill>
              </a:rPr>
              <a:t>IS 362 • Final Project</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11338560" cy="731520"/>
          </a:xfrm>
          <a:prstGeom prst="rect">
            <a:avLst/>
          </a:prstGeom>
          <a:noFill/>
        </p:spPr>
        <p:txBody>
          <a:bodyPr wrap="none">
            <a:spAutoFit/>
          </a:bodyPr>
          <a:lstStyle/>
          <a:p>
            <a:r>
              <a:rPr sz="2800" b="1">
                <a:solidFill>
                  <a:srgbClr val="1F4E79"/>
                </a:solidFill>
              </a:rPr>
              <a:t>Project question and data</a:t>
            </a:r>
          </a:p>
        </p:txBody>
      </p:sp>
      <p:sp>
        <p:nvSpPr>
          <p:cNvPr id="4" name="TextBox 3"/>
          <p:cNvSpPr txBox="1"/>
          <p:nvPr/>
        </p:nvSpPr>
        <p:spPr>
          <a:xfrm>
            <a:off x="685800" y="1051560"/>
            <a:ext cx="5486400" cy="4937760"/>
          </a:xfrm>
          <a:prstGeom prst="rect">
            <a:avLst/>
          </a:prstGeom>
          <a:noFill/>
        </p:spPr>
        <p:txBody>
          <a:bodyPr wrap="square">
            <a:spAutoFit/>
          </a:bodyPr>
          <a:lstStyle/>
          <a:p>
            <a:pPr>
              <a:spcAft>
                <a:spcPts val="600"/>
              </a:spcAft>
              <a:defRPr sz="1800">
                <a:solidFill>
                  <a:srgbClr val="2D2D2D"/>
                </a:solidFill>
              </a:defRPr>
            </a:pPr>
            <a:r>
              <a:t>I looked at whether a major geopolitical event showed up in the broad market and in oil prices.</a:t>
            </a:r>
          </a:p>
          <a:p>
            <a:pPr>
              <a:spcAft>
                <a:spcPts val="600"/>
              </a:spcAft>
              <a:defRPr sz="1800">
                <a:solidFill>
                  <a:srgbClr val="2D2D2D"/>
                </a:solidFill>
              </a:defRPr>
            </a:pPr>
            <a:r>
              <a:t>I used the S&amp;P 500 as the market proxy and WTI crude oil as the commodity series.</a:t>
            </a:r>
          </a:p>
          <a:p>
            <a:pPr>
              <a:spcAft>
                <a:spcPts val="600"/>
              </a:spcAft>
              <a:defRPr sz="1800">
                <a:solidFill>
                  <a:srgbClr val="2D2D2D"/>
                </a:solidFill>
              </a:defRPr>
            </a:pPr>
            <a:r>
              <a:t>I pulled both series from FRED so the notebook stays reproducible.</a:t>
            </a:r>
          </a:p>
          <a:p>
            <a:pPr>
              <a:spcAft>
                <a:spcPts val="600"/>
              </a:spcAft>
              <a:defRPr sz="1800">
                <a:solidFill>
                  <a:srgbClr val="2D2D2D"/>
                </a:solidFill>
              </a:defRPr>
            </a:pPr>
            <a:r>
              <a:t>I used a 45-day window before and after the event date so the trend is easier to see.</a:t>
            </a:r>
          </a:p>
          <a:p>
            <a:pPr>
              <a:spcAft>
                <a:spcPts val="600"/>
              </a:spcAft>
              <a:defRPr sz="1800">
                <a:solidFill>
                  <a:srgbClr val="2D2D2D"/>
                </a:solidFill>
              </a:defRPr>
            </a:pPr>
            <a:r>
              <a:t>I compared the before and after periods using daily returns, normalized prices, and a simple t-test.</a:t>
            </a:r>
          </a:p>
        </p:txBody>
      </p:sp>
      <p:sp>
        <p:nvSpPr>
          <p:cNvPr id="5" name="Rounded Rectangle 4"/>
          <p:cNvSpPr/>
          <p:nvPr/>
        </p:nvSpPr>
        <p:spPr>
          <a:xfrm>
            <a:off x="6492240" y="1143000"/>
            <a:ext cx="5029200" cy="4480560"/>
          </a:xfrm>
          <a:prstGeom prst="roundRect">
            <a:avLst/>
          </a:prstGeom>
          <a:solidFill>
            <a:srgbClr val="F7F9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766560" y="1417320"/>
            <a:ext cx="4572000" cy="3840480"/>
          </a:xfrm>
          <a:prstGeom prst="rect">
            <a:avLst/>
          </a:prstGeom>
          <a:noFill/>
        </p:spPr>
        <p:txBody>
          <a:bodyPr wrap="square">
            <a:spAutoFit/>
          </a:bodyPr>
          <a:lstStyle/>
          <a:p>
            <a:r>
              <a:rPr sz="2000" b="1">
                <a:solidFill>
                  <a:srgbClr val="1F4E79"/>
                </a:solidFill>
              </a:rPr>
              <a:t>Main analysis steps</a:t>
            </a:r>
          </a:p>
          <a:p>
            <a:pPr>
              <a:spcAft>
                <a:spcPts val="300"/>
              </a:spcAft>
            </a:pPr>
            <a:r>
              <a:rPr sz="1600">
                <a:solidFill>
                  <a:srgbClr val="2D2D2D"/>
                </a:solidFill>
              </a:rPr>
              <a:t>• Load the two daily series</a:t>
            </a:r>
          </a:p>
          <a:p>
            <a:pPr>
              <a:spcAft>
                <a:spcPts val="300"/>
              </a:spcAft>
            </a:pPr>
            <a:r>
              <a:rPr sz="1600">
                <a:solidFill>
                  <a:srgbClr val="2D2D2D"/>
                </a:solidFill>
              </a:rPr>
              <a:t>• Clean and merge by date</a:t>
            </a:r>
          </a:p>
          <a:p>
            <a:pPr>
              <a:spcAft>
                <a:spcPts val="300"/>
              </a:spcAft>
            </a:pPr>
            <a:r>
              <a:rPr sz="1600">
                <a:solidFill>
                  <a:srgbClr val="2D2D2D"/>
                </a:solidFill>
              </a:rPr>
              <a:t>• Normalize both series</a:t>
            </a:r>
          </a:p>
          <a:p>
            <a:pPr>
              <a:spcAft>
                <a:spcPts val="300"/>
              </a:spcAft>
            </a:pPr>
            <a:r>
              <a:rPr sz="1600">
                <a:solidFill>
                  <a:srgbClr val="2D2D2D"/>
                </a:solidFill>
              </a:rPr>
              <a:t>• Calculate daily returns</a:t>
            </a:r>
          </a:p>
          <a:p>
            <a:pPr>
              <a:spcAft>
                <a:spcPts val="300"/>
              </a:spcAft>
            </a:pPr>
            <a:r>
              <a:rPr sz="1600">
                <a:solidFill>
                  <a:srgbClr val="2D2D2D"/>
                </a:solidFill>
              </a:rPr>
              <a:t>• Group by before / after event</a:t>
            </a:r>
          </a:p>
          <a:p>
            <a:pPr>
              <a:spcAft>
                <a:spcPts val="300"/>
              </a:spcAft>
            </a:pPr>
            <a:r>
              <a:rPr sz="1600">
                <a:solidFill>
                  <a:srgbClr val="2D2D2D"/>
                </a:solidFill>
              </a:rPr>
              <a:t>• Compare volatility and significance</a:t>
            </a:r>
          </a:p>
        </p:txBody>
      </p:sp>
      <p:sp>
        <p:nvSpPr>
          <p:cNvPr id="7" name="TextBox 6"/>
          <p:cNvSpPr txBox="1"/>
          <p:nvPr/>
        </p:nvSpPr>
        <p:spPr>
          <a:xfrm>
            <a:off x="365760" y="6446520"/>
            <a:ext cx="10972800" cy="274320"/>
          </a:xfrm>
          <a:prstGeom prst="rect">
            <a:avLst/>
          </a:prstGeom>
          <a:noFill/>
        </p:spPr>
        <p:txBody>
          <a:bodyPr wrap="none">
            <a:spAutoFit/>
          </a:bodyPr>
          <a:lstStyle/>
          <a:p>
            <a:pPr algn="r"/>
            <a:r>
              <a:rPr sz="1000">
                <a:solidFill>
                  <a:srgbClr val="646464"/>
                </a:solidFill>
              </a:rPr>
              <a:t>IS 362 • Final Project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11338560" cy="731520"/>
          </a:xfrm>
          <a:prstGeom prst="rect">
            <a:avLst/>
          </a:prstGeom>
          <a:noFill/>
        </p:spPr>
        <p:txBody>
          <a:bodyPr wrap="none">
            <a:spAutoFit/>
          </a:bodyPr>
          <a:lstStyle/>
          <a:p>
            <a:r>
              <a:rPr sz="2800" b="1">
                <a:solidFill>
                  <a:srgbClr val="1F4E79"/>
                </a:solidFill>
              </a:rPr>
              <a:t>Normalized price chart</a:t>
            </a:r>
          </a:p>
        </p:txBody>
      </p:sp>
      <p:pic>
        <p:nvPicPr>
          <p:cNvPr id="4" name="Picture 3" descr="5063a518-34a0-458f-8191-6b79882688e2.png"/>
          <p:cNvPicPr>
            <a:picLocks noChangeAspect="1"/>
          </p:cNvPicPr>
          <p:nvPr/>
        </p:nvPicPr>
        <p:blipFill>
          <a:blip r:embed="rId2"/>
          <a:stretch>
            <a:fillRect/>
          </a:stretch>
        </p:blipFill>
        <p:spPr>
          <a:xfrm>
            <a:off x="594360" y="749808"/>
            <a:ext cx="10972800" cy="4251960"/>
          </a:xfrm>
          <a:prstGeom prst="rect">
            <a:avLst/>
          </a:prstGeom>
        </p:spPr>
      </p:pic>
      <p:sp>
        <p:nvSpPr>
          <p:cNvPr id="5" name="TextBox 4"/>
          <p:cNvSpPr txBox="1"/>
          <p:nvPr/>
        </p:nvSpPr>
        <p:spPr>
          <a:xfrm>
            <a:off x="594360" y="5138928"/>
            <a:ext cx="10195560" cy="566928"/>
          </a:xfrm>
          <a:prstGeom prst="rect">
            <a:avLst/>
          </a:prstGeom>
          <a:solidFill>
            <a:srgbClr val="FFFFFF"/>
          </a:solidFill>
          <a:ln>
            <a:noFill/>
          </a:ln>
        </p:spPr>
        <p:txBody>
          <a:bodyPr wrap="square" lIns="0" rIns="0" tIns="0" bIns="0">
            <a:spAutoFit/>
          </a:bodyPr>
          <a:lstStyle/>
          <a:p>
            <a:pPr algn="l"/>
            <a:r>
              <a:rPr sz="1200" b="1">
                <a:solidFill>
                  <a:srgbClr val="1F4E79"/>
                </a:solidFill>
              </a:rPr>
              <a:t>What I notice:</a:t>
            </a:r>
          </a:p>
          <a:p>
            <a:pPr algn="l"/>
            <a:r>
              <a:rPr sz="1200">
                <a:solidFill>
                  <a:srgbClr val="2D2D2D"/>
                </a:solidFill>
              </a:rPr>
              <a:t>The S&amp;P 500 stays fairly close to its starting point, while WTI oil jumps sharply after the event and stays elevated. That makes oil look much more sensitive to the conflict than the overall market.</a:t>
            </a:r>
          </a:p>
        </p:txBody>
      </p:sp>
      <p:sp>
        <p:nvSpPr>
          <p:cNvPr id="6" name="TextBox 5"/>
          <p:cNvSpPr txBox="1"/>
          <p:nvPr/>
        </p:nvSpPr>
        <p:spPr>
          <a:xfrm>
            <a:off x="365760" y="6446520"/>
            <a:ext cx="10972800" cy="274320"/>
          </a:xfrm>
          <a:prstGeom prst="rect">
            <a:avLst/>
          </a:prstGeom>
          <a:noFill/>
        </p:spPr>
        <p:txBody>
          <a:bodyPr wrap="none">
            <a:spAutoFit/>
          </a:bodyPr>
          <a:lstStyle/>
          <a:p>
            <a:pPr algn="r"/>
            <a:r>
              <a:rPr sz="1000">
                <a:solidFill>
                  <a:srgbClr val="646464"/>
                </a:solidFill>
              </a:rPr>
              <a:t>IS 362 • Final Project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11338560" cy="731520"/>
          </a:xfrm>
          <a:prstGeom prst="rect">
            <a:avLst/>
          </a:prstGeom>
          <a:noFill/>
        </p:spPr>
        <p:txBody>
          <a:bodyPr wrap="none">
            <a:spAutoFit/>
          </a:bodyPr>
          <a:lstStyle/>
          <a:p>
            <a:r>
              <a:rPr sz="2800" b="1">
                <a:solidFill>
                  <a:srgbClr val="1F4E79"/>
                </a:solidFill>
              </a:rPr>
              <a:t>Average daily movement before and after</a:t>
            </a:r>
          </a:p>
        </p:txBody>
      </p:sp>
      <p:pic>
        <p:nvPicPr>
          <p:cNvPr id="4" name="Picture 3" descr="fa3f2b59-019f-427e-94a0-5ae6adcd15b0.png"/>
          <p:cNvPicPr>
            <a:picLocks noChangeAspect="1"/>
          </p:cNvPicPr>
          <p:nvPr/>
        </p:nvPicPr>
        <p:blipFill>
          <a:blip r:embed="rId2"/>
          <a:stretch>
            <a:fillRect/>
          </a:stretch>
        </p:blipFill>
        <p:spPr>
          <a:xfrm>
            <a:off x="777240" y="749808"/>
            <a:ext cx="9875520" cy="4251960"/>
          </a:xfrm>
          <a:prstGeom prst="rect">
            <a:avLst/>
          </a:prstGeom>
        </p:spPr>
      </p:pic>
      <p:sp>
        <p:nvSpPr>
          <p:cNvPr id="5" name="TextBox 4"/>
          <p:cNvSpPr txBox="1"/>
          <p:nvPr/>
        </p:nvSpPr>
        <p:spPr>
          <a:xfrm>
            <a:off x="594360" y="5138928"/>
            <a:ext cx="10195560" cy="566928"/>
          </a:xfrm>
          <a:prstGeom prst="rect">
            <a:avLst/>
          </a:prstGeom>
          <a:solidFill>
            <a:srgbClr val="FFFFFF"/>
          </a:solidFill>
          <a:ln>
            <a:noFill/>
          </a:ln>
        </p:spPr>
        <p:txBody>
          <a:bodyPr wrap="square" lIns="0" rIns="0" tIns="0" bIns="0">
            <a:spAutoFit/>
          </a:bodyPr>
          <a:lstStyle/>
          <a:p>
            <a:pPr algn="l"/>
            <a:r>
              <a:rPr sz="1200" b="1">
                <a:solidFill>
                  <a:srgbClr val="1F4E79"/>
                </a:solidFill>
              </a:rPr>
              <a:t>What I notice:</a:t>
            </a:r>
          </a:p>
          <a:p>
            <a:pPr algn="l"/>
            <a:r>
              <a:rPr sz="1200">
                <a:solidFill>
                  <a:srgbClr val="2D2D2D"/>
                </a:solidFill>
              </a:rPr>
              <a:t>Both series move more after the event, but oil's increase is much bigger. That matches what the line chart showed and suggests the event had a stronger effect on oil than on the broad market.</a:t>
            </a:r>
          </a:p>
        </p:txBody>
      </p:sp>
      <p:sp>
        <p:nvSpPr>
          <p:cNvPr id="6" name="TextBox 5"/>
          <p:cNvSpPr txBox="1"/>
          <p:nvPr/>
        </p:nvSpPr>
        <p:spPr>
          <a:xfrm>
            <a:off x="365760" y="6446520"/>
            <a:ext cx="10972800" cy="274320"/>
          </a:xfrm>
          <a:prstGeom prst="rect">
            <a:avLst/>
          </a:prstGeom>
          <a:noFill/>
        </p:spPr>
        <p:txBody>
          <a:bodyPr wrap="none">
            <a:spAutoFit/>
          </a:bodyPr>
          <a:lstStyle/>
          <a:p>
            <a:pPr algn="r"/>
            <a:r>
              <a:rPr sz="1000">
                <a:solidFill>
                  <a:srgbClr val="646464"/>
                </a:solidFill>
              </a:rPr>
              <a:t>IS 362 • Final Project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11338560" cy="731520"/>
          </a:xfrm>
          <a:prstGeom prst="rect">
            <a:avLst/>
          </a:prstGeom>
          <a:noFill/>
        </p:spPr>
        <p:txBody>
          <a:bodyPr wrap="none">
            <a:spAutoFit/>
          </a:bodyPr>
          <a:lstStyle/>
          <a:p>
            <a:r>
              <a:rPr sz="2800" b="1">
                <a:solidFill>
                  <a:srgbClr val="1F4E79"/>
                </a:solidFill>
              </a:rPr>
              <a:t>Summary statistics and statistical test</a:t>
            </a:r>
          </a:p>
        </p:txBody>
      </p:sp>
      <p:graphicFrame>
        <p:nvGraphicFramePr>
          <p:cNvPr id="4" name="Table 3"/>
          <p:cNvGraphicFramePr>
            <a:graphicFrameLocks noGrp="1"/>
          </p:cNvGraphicFramePr>
          <p:nvPr/>
        </p:nvGraphicFramePr>
        <p:xfrm>
          <a:off x="502920" y="1051560"/>
          <a:ext cx="6400800" cy="3474720"/>
        </p:xfrm>
        <a:graphic>
          <a:graphicData uri="http://schemas.openxmlformats.org/drawingml/2006/table">
            <a:tbl>
              <a:tblPr firstRow="1" bandRow="1">
                <a:tableStyleId>{5C22544A-7EE6-4342-B048-85BDC9FD1C3A}</a:tableStyleId>
              </a:tblPr>
              <a:tblGrid>
                <a:gridCol w="2926080"/>
                <a:gridCol w="1737360"/>
                <a:gridCol w="1737360"/>
              </a:tblGrid>
              <a:tr h="694944">
                <a:tc>
                  <a:txBody>
                    <a:bodyPr/>
                    <a:lstStyle/>
                    <a:p>
                      <a:pPr>
                        <a:defRPr b="1" sz="1200">
                          <a:solidFill>
                            <a:srgbClr val="1F4E79"/>
                          </a:solidFill>
                        </a:defRPr>
                      </a:pPr>
                      <a:r>
                        <a:t>Metric</a:t>
                      </a:r>
                    </a:p>
                  </a:txBody>
                  <a:tcPr/>
                </a:tc>
                <a:tc>
                  <a:txBody>
                    <a:bodyPr/>
                    <a:lstStyle/>
                    <a:p>
                      <a:pPr>
                        <a:defRPr b="1" sz="1200">
                          <a:solidFill>
                            <a:srgbClr val="1F4E79"/>
                          </a:solidFill>
                        </a:defRPr>
                      </a:pPr>
                      <a:r>
                        <a:t>Before</a:t>
                      </a:r>
                    </a:p>
                  </a:txBody>
                  <a:tcPr/>
                </a:tc>
                <a:tc>
                  <a:txBody>
                    <a:bodyPr/>
                    <a:lstStyle/>
                    <a:p>
                      <a:pPr>
                        <a:defRPr b="1" sz="1200">
                          <a:solidFill>
                            <a:srgbClr val="1F4E79"/>
                          </a:solidFill>
                        </a:defRPr>
                      </a:pPr>
                      <a:r>
                        <a:t>After</a:t>
                      </a:r>
                    </a:p>
                  </a:txBody>
                  <a:tcPr/>
                </a:tc>
              </a:tr>
              <a:tr h="694944">
                <a:tc>
                  <a:txBody>
                    <a:bodyPr/>
                    <a:lstStyle/>
                    <a:p>
                      <a:pPr>
                        <a:defRPr sz="1100">
                          <a:solidFill>
                            <a:srgbClr val="2D2D2D"/>
                          </a:solidFill>
                        </a:defRPr>
                      </a:pPr>
                      <a:r>
                        <a:t>S&amp;P 500 avg abs return</a:t>
                      </a:r>
                    </a:p>
                  </a:txBody>
                  <a:tcPr/>
                </a:tc>
                <a:tc>
                  <a:txBody>
                    <a:bodyPr/>
                    <a:lstStyle/>
                    <a:p>
                      <a:pPr>
                        <a:defRPr sz="1100">
                          <a:solidFill>
                            <a:srgbClr val="2D2D2D"/>
                          </a:solidFill>
                        </a:defRPr>
                      </a:pPr>
                      <a:r>
                        <a:t>0.006109</a:t>
                      </a:r>
                    </a:p>
                  </a:txBody>
                  <a:tcPr/>
                </a:tc>
                <a:tc>
                  <a:txBody>
                    <a:bodyPr/>
                    <a:lstStyle/>
                    <a:p>
                      <a:pPr>
                        <a:defRPr sz="1100">
                          <a:solidFill>
                            <a:srgbClr val="2D2D2D"/>
                          </a:solidFill>
                        </a:defRPr>
                      </a:pPr>
                      <a:r>
                        <a:t>0.008672</a:t>
                      </a:r>
                    </a:p>
                  </a:txBody>
                  <a:tcPr/>
                </a:tc>
              </a:tr>
              <a:tr h="694944">
                <a:tc>
                  <a:txBody>
                    <a:bodyPr/>
                    <a:lstStyle/>
                    <a:p>
                      <a:pPr>
                        <a:defRPr sz="1100">
                          <a:solidFill>
                            <a:srgbClr val="2D2D2D"/>
                          </a:solidFill>
                        </a:defRPr>
                      </a:pPr>
                      <a:r>
                        <a:t>WTI avg abs return</a:t>
                      </a:r>
                    </a:p>
                  </a:txBody>
                  <a:tcPr/>
                </a:tc>
                <a:tc>
                  <a:txBody>
                    <a:bodyPr/>
                    <a:lstStyle/>
                    <a:p>
                      <a:pPr>
                        <a:defRPr sz="1100">
                          <a:solidFill>
                            <a:srgbClr val="2D2D2D"/>
                          </a:solidFill>
                        </a:defRPr>
                      </a:pPr>
                      <a:r>
                        <a:t>0.016606</a:t>
                      </a:r>
                    </a:p>
                  </a:txBody>
                  <a:tcPr/>
                </a:tc>
                <a:tc>
                  <a:txBody>
                    <a:bodyPr/>
                    <a:lstStyle/>
                    <a:p>
                      <a:pPr>
                        <a:defRPr sz="1100">
                          <a:solidFill>
                            <a:srgbClr val="2D2D2D"/>
                          </a:solidFill>
                        </a:defRPr>
                      </a:pPr>
                      <a:r>
                        <a:t>0.048564</a:t>
                      </a:r>
                    </a:p>
                  </a:txBody>
                  <a:tcPr/>
                </a:tc>
              </a:tr>
              <a:tr h="694944">
                <a:tc>
                  <a:txBody>
                    <a:bodyPr/>
                    <a:lstStyle/>
                    <a:p>
                      <a:pPr>
                        <a:defRPr sz="1100">
                          <a:solidFill>
                            <a:srgbClr val="2D2D2D"/>
                          </a:solidFill>
                        </a:defRPr>
                      </a:pPr>
                      <a:r>
                        <a:t>S&amp;P 500 volatility</a:t>
                      </a:r>
                    </a:p>
                  </a:txBody>
                  <a:tcPr/>
                </a:tc>
                <a:tc>
                  <a:txBody>
                    <a:bodyPr/>
                    <a:lstStyle/>
                    <a:p>
                      <a:pPr>
                        <a:defRPr sz="1100">
                          <a:solidFill>
                            <a:srgbClr val="2D2D2D"/>
                          </a:solidFill>
                        </a:defRPr>
                      </a:pPr>
                      <a:r>
                        <a:t>0.008238</a:t>
                      </a:r>
                    </a:p>
                  </a:txBody>
                  <a:tcPr/>
                </a:tc>
                <a:tc>
                  <a:txBody>
                    <a:bodyPr/>
                    <a:lstStyle/>
                    <a:p>
                      <a:pPr>
                        <a:defRPr sz="1100">
                          <a:solidFill>
                            <a:srgbClr val="2D2D2D"/>
                          </a:solidFill>
                        </a:defRPr>
                      </a:pPr>
                      <a:r>
                        <a:t>0.011298</a:t>
                      </a:r>
                    </a:p>
                  </a:txBody>
                  <a:tcPr/>
                </a:tc>
              </a:tr>
              <a:tr h="694944">
                <a:tc>
                  <a:txBody>
                    <a:bodyPr/>
                    <a:lstStyle/>
                    <a:p>
                      <a:pPr>
                        <a:defRPr sz="1100">
                          <a:solidFill>
                            <a:srgbClr val="2D2D2D"/>
                          </a:solidFill>
                        </a:defRPr>
                      </a:pPr>
                      <a:r>
                        <a:t>WTI volatility</a:t>
                      </a:r>
                    </a:p>
                  </a:txBody>
                  <a:tcPr/>
                </a:tc>
                <a:tc>
                  <a:txBody>
                    <a:bodyPr/>
                    <a:lstStyle/>
                    <a:p>
                      <a:pPr>
                        <a:defRPr sz="1100">
                          <a:solidFill>
                            <a:srgbClr val="2D2D2D"/>
                          </a:solidFill>
                        </a:defRPr>
                      </a:pPr>
                      <a:r>
                        <a:t>0.021436</a:t>
                      </a:r>
                    </a:p>
                  </a:txBody>
                  <a:tcPr/>
                </a:tc>
                <a:tc>
                  <a:txBody>
                    <a:bodyPr/>
                    <a:lstStyle/>
                    <a:p>
                      <a:pPr>
                        <a:defRPr sz="1100">
                          <a:solidFill>
                            <a:srgbClr val="2D2D2D"/>
                          </a:solidFill>
                        </a:defRPr>
                      </a:pPr>
                      <a:r>
                        <a:t>0.063079</a:t>
                      </a:r>
                    </a:p>
                  </a:txBody>
                  <a:tcPr/>
                </a:tc>
              </a:tr>
            </a:tbl>
          </a:graphicData>
        </a:graphic>
      </p:graphicFrame>
      <p:sp>
        <p:nvSpPr>
          <p:cNvPr id="5" name="Rounded Rectangle 4"/>
          <p:cNvSpPr/>
          <p:nvPr/>
        </p:nvSpPr>
        <p:spPr>
          <a:xfrm>
            <a:off x="7269480" y="1051560"/>
            <a:ext cx="4297680" cy="3474720"/>
          </a:xfrm>
          <a:prstGeom prst="roundRect">
            <a:avLst/>
          </a:prstGeom>
          <a:solidFill>
            <a:srgbClr val="F7F9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498079" y="1325880"/>
            <a:ext cx="3749039" cy="2926080"/>
          </a:xfrm>
          <a:prstGeom prst="rect">
            <a:avLst/>
          </a:prstGeom>
          <a:noFill/>
        </p:spPr>
        <p:txBody>
          <a:bodyPr wrap="square">
            <a:spAutoFit/>
          </a:bodyPr>
          <a:lstStyle/>
          <a:p>
            <a:r>
              <a:rPr sz="1800" b="1">
                <a:solidFill>
                  <a:srgbClr val="1F4E79"/>
                </a:solidFill>
              </a:rPr>
              <a:t>T-test results</a:t>
            </a:r>
          </a:p>
          <a:p>
            <a:pPr>
              <a:spcAft>
                <a:spcPts val="400"/>
              </a:spcAft>
            </a:pPr>
            <a:r>
              <a:rPr sz="1500">
                <a:solidFill>
                  <a:srgbClr val="2D2D2D"/>
                </a:solidFill>
              </a:rPr>
              <a:t>• S&amp;P 500 p-value = 0.1171</a:t>
            </a:r>
          </a:p>
          <a:p>
            <a:pPr>
              <a:spcAft>
                <a:spcPts val="400"/>
              </a:spcAft>
            </a:pPr>
            <a:r>
              <a:rPr sz="1500">
                <a:solidFill>
                  <a:srgbClr val="2D2D2D"/>
                </a:solidFill>
              </a:rPr>
              <a:t>• WTI p-value = 0.00023</a:t>
            </a:r>
          </a:p>
          <a:p>
            <a:pPr>
              <a:spcAft>
                <a:spcPts val="400"/>
              </a:spcAft>
            </a:pPr>
            <a:r>
              <a:rPr sz="1500">
                <a:solidFill>
                  <a:srgbClr val="2D2D2D"/>
                </a:solidFill>
              </a:rPr>
              <a:t>• The S&amp;P 500 change is not statistically strong.</a:t>
            </a:r>
          </a:p>
          <a:p>
            <a:pPr>
              <a:spcAft>
                <a:spcPts val="400"/>
              </a:spcAft>
            </a:pPr>
            <a:r>
              <a:rPr sz="1500">
                <a:solidFill>
                  <a:srgbClr val="2D2D2D"/>
                </a:solidFill>
              </a:rPr>
              <a:t>• The WTI change is statistically significant.</a:t>
            </a:r>
          </a:p>
        </p:txBody>
      </p:sp>
      <p:sp>
        <p:nvSpPr>
          <p:cNvPr id="7" name="TextBox 6"/>
          <p:cNvSpPr txBox="1"/>
          <p:nvPr/>
        </p:nvSpPr>
        <p:spPr>
          <a:xfrm>
            <a:off x="365760" y="6446520"/>
            <a:ext cx="10972800" cy="274320"/>
          </a:xfrm>
          <a:prstGeom prst="rect">
            <a:avLst/>
          </a:prstGeom>
          <a:noFill/>
        </p:spPr>
        <p:txBody>
          <a:bodyPr wrap="none">
            <a:spAutoFit/>
          </a:bodyPr>
          <a:lstStyle/>
          <a:p>
            <a:pPr algn="r"/>
            <a:r>
              <a:rPr sz="1000">
                <a:solidFill>
                  <a:srgbClr val="646464"/>
                </a:solidFill>
              </a:rPr>
              <a:t>IS 362 • Final Project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32004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320040"/>
            <a:ext cx="11338560" cy="731520"/>
          </a:xfrm>
          <a:prstGeom prst="rect">
            <a:avLst/>
          </a:prstGeom>
          <a:noFill/>
        </p:spPr>
        <p:txBody>
          <a:bodyPr wrap="none">
            <a:spAutoFit/>
          </a:bodyPr>
          <a:lstStyle/>
          <a:p>
            <a:r>
              <a:rPr sz="2800" b="1">
                <a:solidFill>
                  <a:srgbClr val="1F4E79"/>
                </a:solidFill>
              </a:rPr>
              <a:t>Conclusion</a:t>
            </a:r>
          </a:p>
        </p:txBody>
      </p:sp>
      <p:sp>
        <p:nvSpPr>
          <p:cNvPr id="4" name="Rounded Rectangle 3"/>
          <p:cNvSpPr/>
          <p:nvPr/>
        </p:nvSpPr>
        <p:spPr>
          <a:xfrm>
            <a:off x="594360" y="1051560"/>
            <a:ext cx="7406640" cy="4937760"/>
          </a:xfrm>
          <a:prstGeom prst="roundRect">
            <a:avLst/>
          </a:prstGeom>
          <a:solidFill>
            <a:srgbClr val="F7F9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68680" y="1325880"/>
            <a:ext cx="6903720" cy="4480560"/>
          </a:xfrm>
          <a:prstGeom prst="rect">
            <a:avLst/>
          </a:prstGeom>
          <a:noFill/>
        </p:spPr>
        <p:txBody>
          <a:bodyPr wrap="square">
            <a:spAutoFit/>
          </a:bodyPr>
          <a:lstStyle/>
          <a:p>
            <a:r>
              <a:rPr sz="1800" b="1">
                <a:solidFill>
                  <a:srgbClr val="1F4E79"/>
                </a:solidFill>
              </a:rPr>
              <a:t>Final takeaways</a:t>
            </a:r>
          </a:p>
          <a:p>
            <a:pPr>
              <a:spcAft>
                <a:spcPts val="500"/>
              </a:spcAft>
            </a:pPr>
            <a:r>
              <a:rPr sz="1500">
                <a:solidFill>
                  <a:srgbClr val="2D2D2D"/>
                </a:solidFill>
              </a:rPr>
              <a:t>• The broad market stayed relatively stable across the window.</a:t>
            </a:r>
          </a:p>
          <a:p>
            <a:pPr>
              <a:spcAft>
                <a:spcPts val="500"/>
              </a:spcAft>
            </a:pPr>
            <a:r>
              <a:rPr sz="1500">
                <a:solidFill>
                  <a:srgbClr val="2D2D2D"/>
                </a:solidFill>
              </a:rPr>
              <a:t>• Oil reacted much more strongly and became more volatile after the event.</a:t>
            </a:r>
          </a:p>
          <a:p>
            <a:pPr>
              <a:spcAft>
                <a:spcPts val="500"/>
              </a:spcAft>
            </a:pPr>
            <a:r>
              <a:rPr sz="1500">
                <a:solidFill>
                  <a:srgbClr val="2D2D2D"/>
                </a:solidFill>
              </a:rPr>
              <a:t>• The chart, the grouped summary, and the t-test all point in the same direction.</a:t>
            </a:r>
          </a:p>
          <a:p>
            <a:pPr>
              <a:spcAft>
                <a:spcPts val="500"/>
              </a:spcAft>
            </a:pPr>
            <a:r>
              <a:rPr sz="1500">
                <a:solidFill>
                  <a:srgbClr val="2D2D2D"/>
                </a:solidFill>
              </a:rPr>
              <a:t>• The weekend event date was the main challenge, so I used nearby trading days instead.</a:t>
            </a:r>
          </a:p>
        </p:txBody>
      </p:sp>
      <p:sp>
        <p:nvSpPr>
          <p:cNvPr id="6" name="Rounded Rectangle 5"/>
          <p:cNvSpPr/>
          <p:nvPr/>
        </p:nvSpPr>
        <p:spPr>
          <a:xfrm>
            <a:off x="8229600" y="1051560"/>
            <a:ext cx="3383280" cy="4937760"/>
          </a:xfrm>
          <a:prstGeom prst="roundRect">
            <a:avLst/>
          </a:prstGeom>
          <a:solidFill>
            <a:srgbClr val="F7F9FC"/>
          </a:solidFill>
          <a:ln>
            <a:solidFill>
              <a:srgbClr val="D2DCE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458200" y="1325880"/>
            <a:ext cx="2926080" cy="4389120"/>
          </a:xfrm>
          <a:prstGeom prst="rect">
            <a:avLst/>
          </a:prstGeom>
          <a:noFill/>
        </p:spPr>
        <p:txBody>
          <a:bodyPr wrap="square">
            <a:spAutoFit/>
          </a:bodyPr>
          <a:lstStyle/>
          <a:p>
            <a:r>
              <a:rPr sz="1800" b="1">
                <a:solidFill>
                  <a:srgbClr val="1F4E79"/>
                </a:solidFill>
              </a:rPr>
              <a:t>Sources</a:t>
            </a:r>
          </a:p>
          <a:p>
            <a:pPr>
              <a:spcAft>
                <a:spcPts val="400"/>
              </a:spcAft>
            </a:pPr>
            <a:r>
              <a:rPr sz="1400">
                <a:solidFill>
                  <a:srgbClr val="2D2D2D"/>
                </a:solidFill>
              </a:rPr>
              <a:t>FRED</a:t>
            </a:r>
          </a:p>
          <a:p>
            <a:pPr>
              <a:spcAft>
                <a:spcPts val="400"/>
              </a:spcAft>
            </a:pPr>
            <a:r>
              <a:rPr sz="1400">
                <a:solidFill>
                  <a:srgbClr val="2D2D2D"/>
                </a:solidFill>
              </a:rPr>
              <a:t>S&amp;P 500 daily series</a:t>
            </a:r>
          </a:p>
          <a:p>
            <a:pPr>
              <a:spcAft>
                <a:spcPts val="400"/>
              </a:spcAft>
            </a:pPr>
            <a:r>
              <a:rPr sz="1400">
                <a:solidFill>
                  <a:srgbClr val="2D2D2D"/>
                </a:solidFill>
              </a:rPr>
              <a:t>WTI crude oil daily series</a:t>
            </a:r>
          </a:p>
          <a:p>
            <a:pPr>
              <a:spcAft>
                <a:spcPts val="400"/>
              </a:spcAft>
            </a:pPr>
            <a:r>
              <a:rPr sz="1400">
                <a:solidFill>
                  <a:srgbClr val="2D2D2D"/>
                </a:solidFill>
              </a:rPr>
              <a:t>Reuters coverage for timing</a:t>
            </a:r>
          </a:p>
        </p:txBody>
      </p:sp>
      <p:sp>
        <p:nvSpPr>
          <p:cNvPr id="8" name="TextBox 7"/>
          <p:cNvSpPr txBox="1"/>
          <p:nvPr/>
        </p:nvSpPr>
        <p:spPr>
          <a:xfrm>
            <a:off x="365760" y="6446520"/>
            <a:ext cx="10972800" cy="274320"/>
          </a:xfrm>
          <a:prstGeom prst="rect">
            <a:avLst/>
          </a:prstGeom>
          <a:noFill/>
        </p:spPr>
        <p:txBody>
          <a:bodyPr wrap="none">
            <a:spAutoFit/>
          </a:bodyPr>
          <a:lstStyle/>
          <a:p>
            <a:pPr algn="r"/>
            <a:r>
              <a:rPr sz="1000">
                <a:solidFill>
                  <a:srgbClr val="646464"/>
                </a:solidFill>
              </a:rPr>
              <a:t>IS 362 • Final Project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